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Helvetica Neue"/>
      <p:regular r:id="rId27"/>
      <p:bold r:id="rId28"/>
      <p:italic r:id="rId29"/>
      <p:boldItalic r:id="rId30"/>
    </p:embeddedFont>
    <p:embeddedFont>
      <p:font typeface="Nunito Sans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HelveticaNeue-bold.fntdata"/><Relationship Id="rId27" Type="http://schemas.openxmlformats.org/officeDocument/2006/relationships/font" Target="fonts/HelveticaNeu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HelveticaNeue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NunitoSans-regular.fntdata"/><Relationship Id="rId30" Type="http://schemas.openxmlformats.org/officeDocument/2006/relationships/font" Target="fonts/HelveticaNeue-boldItalic.fntdata"/><Relationship Id="rId11" Type="http://schemas.openxmlformats.org/officeDocument/2006/relationships/slide" Target="slides/slide6.xml"/><Relationship Id="rId33" Type="http://schemas.openxmlformats.org/officeDocument/2006/relationships/font" Target="fonts/NunitoSans-italic.fntdata"/><Relationship Id="rId10" Type="http://schemas.openxmlformats.org/officeDocument/2006/relationships/slide" Target="slides/slide5.xml"/><Relationship Id="rId32" Type="http://schemas.openxmlformats.org/officeDocument/2006/relationships/font" Target="fonts/NunitoSans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NunitoSans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87fc86d7e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87fc86d7e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87fc86d7e7_0_47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87fc86d7e7_0_47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8a6aa6602b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8a6aa6602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87fc86d7e7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87fc86d7e7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8a6aa6602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8a6aa6602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8a6aa6602b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8a6aa6602b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8a6aa6602b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8a6aa6602b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8a6aa6602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8a6aa6602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8a6aa6602b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8a6aa6602b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8a6aa6602b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8a6aa6602b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8a6aa6602b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8a6aa6602b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8a6aa6602b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8a6aa6602b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8a6aa6602b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8a6aa6602b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8a6aa6602b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8a6aa6602b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8a6aa6602b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28a6aa6602b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8a6aa6602b_0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8a6aa6602b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8a6aa6602b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28a6aa6602b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8a6aa6602b_0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28a6aa6602b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8a6aa6602b_0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28a6aa6602b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8a6aa6602b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28a6aa6602b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8a6aa6602b_0_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28a6aa6602b_0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/Section">
  <p:cSld name="SECTION_HEADER_1">
    <p:bg>
      <p:bgPr>
        <a:solidFill>
          <a:srgbClr val="018B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28" y="4736507"/>
            <a:ext cx="34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2" name="Google Shape;52;p13"/>
          <p:cNvPicPr preferRelativeResize="0"/>
          <p:nvPr/>
        </p:nvPicPr>
        <p:blipFill rotWithShape="1">
          <a:blip r:embed="rId2">
            <a:alphaModFix/>
          </a:blip>
          <a:srcRect b="0" l="0" r="21377" t="0"/>
          <a:stretch/>
        </p:blipFill>
        <p:spPr>
          <a:xfrm>
            <a:off x="3539825" y="-955975"/>
            <a:ext cx="5604174" cy="7128174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3"/>
          <p:cNvSpPr txBox="1"/>
          <p:nvPr>
            <p:ph type="title"/>
          </p:nvPr>
        </p:nvSpPr>
        <p:spPr>
          <a:xfrm>
            <a:off x="682650" y="1097280"/>
            <a:ext cx="7425300" cy="1536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b="1" sz="36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664700" y="3134825"/>
            <a:ext cx="4760700" cy="92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5" name="Google Shape;55;p13"/>
          <p:cNvSpPr txBox="1"/>
          <p:nvPr/>
        </p:nvSpPr>
        <p:spPr>
          <a:xfrm>
            <a:off x="678050" y="4774132"/>
            <a:ext cx="7531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</a:rPr>
              <a:t>© </a:t>
            </a:r>
            <a:r>
              <a:rPr lang="en" sz="700">
                <a:solidFill>
                  <a:schemeClr val="lt1"/>
                </a:solidFill>
              </a:rPr>
              <a:t>2022 Neo4j, Inc. All rights reserved.</a:t>
            </a:r>
            <a:endParaRPr sz="700">
              <a:solidFill>
                <a:schemeClr val="lt1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7450" y="4830388"/>
            <a:ext cx="548641" cy="2058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/>
          <p:nvPr/>
        </p:nvSpPr>
        <p:spPr>
          <a:xfrm>
            <a:off x="25" y="-25"/>
            <a:ext cx="348600" cy="5143500"/>
          </a:xfrm>
          <a:prstGeom prst="rect">
            <a:avLst/>
          </a:prstGeom>
          <a:solidFill>
            <a:srgbClr val="018B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28" y="4736507"/>
            <a:ext cx="34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14"/>
          <p:cNvSpPr txBox="1"/>
          <p:nvPr>
            <p:ph type="title"/>
          </p:nvPr>
        </p:nvSpPr>
        <p:spPr>
          <a:xfrm>
            <a:off x="678050" y="368825"/>
            <a:ext cx="8046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678050" y="1068425"/>
            <a:ext cx="8132700" cy="34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1pPr>
            <a:lvl2pPr indent="-3302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◦"/>
              <a:defRPr sz="1600"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3pPr>
            <a:lvl4pPr indent="-3111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◦"/>
              <a:defRPr sz="1300"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◦"/>
              <a:defRPr sz="1100"/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◦"/>
              <a:defRPr sz="1100"/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9pPr>
          </a:lstStyle>
          <a:p/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2">
            <a:alphaModFix/>
          </a:blip>
          <a:srcRect b="0" l="0" r="41741" t="56174"/>
          <a:stretch/>
        </p:blipFill>
        <p:spPr>
          <a:xfrm>
            <a:off x="6915975" y="-77175"/>
            <a:ext cx="2334126" cy="129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7450" y="4825113"/>
            <a:ext cx="548641" cy="2058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s - Different Colors">
  <p:cSld name="BIG_NUMBER_1">
    <p:bg>
      <p:bgPr>
        <a:noFill/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28" y="4736024"/>
            <a:ext cx="34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rtl="0"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6" name="Google Shape;66;p15"/>
          <p:cNvPicPr preferRelativeResize="0"/>
          <p:nvPr/>
        </p:nvPicPr>
        <p:blipFill rotWithShape="1">
          <a:blip r:embed="rId2">
            <a:alphaModFix amt="10000"/>
          </a:blip>
          <a:srcRect b="-1080" l="1900" r="34748" t="1080"/>
          <a:stretch/>
        </p:blipFill>
        <p:spPr>
          <a:xfrm>
            <a:off x="5616468" y="215450"/>
            <a:ext cx="4043832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7450" y="4830388"/>
            <a:ext cx="548641" cy="205819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/>
          <p:nvPr>
            <p:ph type="title"/>
          </p:nvPr>
        </p:nvSpPr>
        <p:spPr>
          <a:xfrm>
            <a:off x="682650" y="1808555"/>
            <a:ext cx="7425300" cy="1536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18BFF"/>
              </a:buClr>
              <a:buSzPts val="3600"/>
              <a:buNone/>
              <a:defRPr b="1" sz="3600">
                <a:solidFill>
                  <a:srgbClr val="018B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18BFF"/>
              </a:buClr>
              <a:buSzPts val="3600"/>
              <a:buNone/>
              <a:defRPr sz="3600">
                <a:solidFill>
                  <a:srgbClr val="018B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18BFF"/>
              </a:buClr>
              <a:buSzPts val="3600"/>
              <a:buNone/>
              <a:defRPr sz="3600">
                <a:solidFill>
                  <a:srgbClr val="018B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18BFF"/>
              </a:buClr>
              <a:buSzPts val="3600"/>
              <a:buNone/>
              <a:defRPr sz="3600">
                <a:solidFill>
                  <a:srgbClr val="018B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18BFF"/>
              </a:buClr>
              <a:buSzPts val="3600"/>
              <a:buNone/>
              <a:defRPr sz="3600">
                <a:solidFill>
                  <a:srgbClr val="018B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18BFF"/>
              </a:buClr>
              <a:buSzPts val="3600"/>
              <a:buNone/>
              <a:defRPr sz="3600">
                <a:solidFill>
                  <a:srgbClr val="018B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18BFF"/>
              </a:buClr>
              <a:buSzPts val="3600"/>
              <a:buNone/>
              <a:defRPr sz="3600">
                <a:solidFill>
                  <a:srgbClr val="018B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18BFF"/>
              </a:buClr>
              <a:buSzPts val="3600"/>
              <a:buNone/>
              <a:defRPr sz="3600">
                <a:solidFill>
                  <a:srgbClr val="018B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18BFF"/>
              </a:buClr>
              <a:buSzPts val="3600"/>
              <a:buNone/>
              <a:defRPr sz="3600">
                <a:solidFill>
                  <a:srgbClr val="018BFF"/>
                </a:solidFill>
              </a:defRPr>
            </a:lvl9pPr>
          </a:lstStyle>
          <a:p/>
        </p:txBody>
      </p:sp>
      <p:sp>
        <p:nvSpPr>
          <p:cNvPr id="69" name="Google Shape;69;p15"/>
          <p:cNvSpPr txBox="1"/>
          <p:nvPr>
            <p:ph idx="1" type="subTitle"/>
          </p:nvPr>
        </p:nvSpPr>
        <p:spPr>
          <a:xfrm>
            <a:off x="664700" y="2856788"/>
            <a:ext cx="4760700" cy="92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18BFF"/>
              </a:buClr>
              <a:buSzPts val="1600"/>
              <a:buNone/>
              <a:defRPr sz="1600">
                <a:solidFill>
                  <a:srgbClr val="018B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18BFF"/>
              </a:buClr>
              <a:buSzPts val="1600"/>
              <a:buNone/>
              <a:defRPr sz="1600">
                <a:solidFill>
                  <a:srgbClr val="018B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18BFF"/>
              </a:buClr>
              <a:buSzPts val="1600"/>
              <a:buNone/>
              <a:defRPr sz="1600">
                <a:solidFill>
                  <a:srgbClr val="018B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18BFF"/>
              </a:buClr>
              <a:buSzPts val="1600"/>
              <a:buNone/>
              <a:defRPr sz="1600">
                <a:solidFill>
                  <a:srgbClr val="018B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18BFF"/>
              </a:buClr>
              <a:buSzPts val="1600"/>
              <a:buNone/>
              <a:defRPr sz="1600">
                <a:solidFill>
                  <a:srgbClr val="018B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18BFF"/>
              </a:buClr>
              <a:buSzPts val="1600"/>
              <a:buNone/>
              <a:defRPr sz="1600">
                <a:solidFill>
                  <a:srgbClr val="018B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18BFF"/>
              </a:buClr>
              <a:buSzPts val="1600"/>
              <a:buNone/>
              <a:defRPr sz="1600">
                <a:solidFill>
                  <a:srgbClr val="018B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18BFF"/>
              </a:buClr>
              <a:buSzPts val="1600"/>
              <a:buNone/>
              <a:defRPr sz="1600">
                <a:solidFill>
                  <a:srgbClr val="018B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18BFF"/>
              </a:buClr>
              <a:buSzPts val="1600"/>
              <a:buNone/>
              <a:defRPr sz="1600">
                <a:solidFill>
                  <a:srgbClr val="018B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Thirds - Bullets">
  <p:cSld name="TITLE_AND_BODY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/>
          <p:nvPr/>
        </p:nvSpPr>
        <p:spPr>
          <a:xfrm>
            <a:off x="25" y="-25"/>
            <a:ext cx="3045000" cy="5143500"/>
          </a:xfrm>
          <a:prstGeom prst="rect">
            <a:avLst/>
          </a:prstGeom>
          <a:solidFill>
            <a:srgbClr val="018B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28" y="4736507"/>
            <a:ext cx="34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3" name="Google Shape;73;p16"/>
          <p:cNvPicPr preferRelativeResize="0"/>
          <p:nvPr/>
        </p:nvPicPr>
        <p:blipFill rotWithShape="1">
          <a:blip r:embed="rId2">
            <a:alphaModFix/>
          </a:blip>
          <a:srcRect b="0" l="0" r="41741" t="56174"/>
          <a:stretch/>
        </p:blipFill>
        <p:spPr>
          <a:xfrm>
            <a:off x="6915975" y="-77175"/>
            <a:ext cx="2334126" cy="129637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 txBox="1"/>
          <p:nvPr>
            <p:ph type="title"/>
          </p:nvPr>
        </p:nvSpPr>
        <p:spPr>
          <a:xfrm>
            <a:off x="3500600" y="368825"/>
            <a:ext cx="522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5" name="Google Shape;75;p16"/>
          <p:cNvSpPr txBox="1"/>
          <p:nvPr/>
        </p:nvSpPr>
        <p:spPr>
          <a:xfrm>
            <a:off x="678050" y="4774132"/>
            <a:ext cx="7531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</a:rPr>
              <a:t>© </a:t>
            </a:r>
            <a:r>
              <a:rPr lang="en" sz="700">
                <a:solidFill>
                  <a:schemeClr val="lt1"/>
                </a:solidFill>
              </a:rPr>
              <a:t>2022 Neo4j, Inc. All rights reserved.</a:t>
            </a:r>
            <a:endParaRPr sz="700">
              <a:solidFill>
                <a:schemeClr val="lt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500600" y="1068425"/>
            <a:ext cx="5303700" cy="34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1pPr>
            <a:lvl2pPr indent="-3302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◦"/>
              <a:defRPr sz="1600"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3pPr>
            <a:lvl4pPr indent="-3111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◦"/>
              <a:defRPr sz="1300"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◦"/>
              <a:defRPr sz="1100"/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◦"/>
              <a:defRPr sz="1100"/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9pPr>
          </a:lstStyle>
          <a:p/>
        </p:txBody>
      </p:sp>
      <p:sp>
        <p:nvSpPr>
          <p:cNvPr id="77" name="Google Shape;77;p16"/>
          <p:cNvSpPr txBox="1"/>
          <p:nvPr>
            <p:ph idx="2" type="body"/>
          </p:nvPr>
        </p:nvSpPr>
        <p:spPr>
          <a:xfrm>
            <a:off x="390475" y="530207"/>
            <a:ext cx="2264100" cy="4179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3429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 sz="1800">
                <a:solidFill>
                  <a:srgbClr val="FFFFFF"/>
                </a:solidFill>
              </a:defRPr>
            </a:lvl1pPr>
            <a:lvl2pPr indent="-3302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◦"/>
              <a:defRPr sz="1600">
                <a:solidFill>
                  <a:srgbClr val="FFFFFF"/>
                </a:solidFill>
              </a:defRPr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>
                <a:solidFill>
                  <a:srgbClr val="FFFFFF"/>
                </a:solidFill>
              </a:defRPr>
            </a:lvl3pPr>
            <a:lvl4pPr indent="-31115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Char char="◦"/>
              <a:defRPr sz="1300">
                <a:solidFill>
                  <a:srgbClr val="FFFFFF"/>
                </a:solidFill>
              </a:defRPr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5pPr>
            <a:lvl6pPr indent="-29845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◦"/>
              <a:defRPr sz="1100">
                <a:solidFill>
                  <a:srgbClr val="FFFFFF"/>
                </a:solidFill>
              </a:defRPr>
            </a:lvl6pPr>
            <a:lvl7pPr indent="-29845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•"/>
              <a:defRPr sz="1100">
                <a:solidFill>
                  <a:srgbClr val="FFFFFF"/>
                </a:solidFill>
              </a:defRPr>
            </a:lvl7pPr>
            <a:lvl8pPr indent="-29845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◦"/>
              <a:defRPr sz="1100">
                <a:solidFill>
                  <a:srgbClr val="FFFFFF"/>
                </a:solidFill>
              </a:defRPr>
            </a:lvl8pPr>
            <a:lvl9pPr indent="-29845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•"/>
              <a:defRPr sz="11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7450" y="4825113"/>
            <a:ext cx="548641" cy="2058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2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/>
          <p:nvPr/>
        </p:nvSpPr>
        <p:spPr>
          <a:xfrm>
            <a:off x="25" y="-25"/>
            <a:ext cx="348600" cy="5143500"/>
          </a:xfrm>
          <a:prstGeom prst="rect">
            <a:avLst/>
          </a:prstGeom>
          <a:solidFill>
            <a:srgbClr val="018B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28" y="4736507"/>
            <a:ext cx="34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17"/>
          <p:cNvSpPr txBox="1"/>
          <p:nvPr>
            <p:ph type="title"/>
          </p:nvPr>
        </p:nvSpPr>
        <p:spPr>
          <a:xfrm>
            <a:off x="678050" y="368825"/>
            <a:ext cx="8046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678050" y="1068425"/>
            <a:ext cx="8132700" cy="34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/>
            </a:lvl1pPr>
            <a:lvl2pPr indent="-3302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◦"/>
              <a:defRPr sz="1600"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3pPr>
            <a:lvl4pPr indent="-3111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◦"/>
              <a:defRPr sz="1300"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◦"/>
              <a:defRPr sz="1100"/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◦"/>
              <a:defRPr sz="1100"/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9pPr>
          </a:lstStyle>
          <a:p/>
        </p:txBody>
      </p:sp>
      <p:pic>
        <p:nvPicPr>
          <p:cNvPr id="84" name="Google Shape;84;p17"/>
          <p:cNvPicPr preferRelativeResize="0"/>
          <p:nvPr/>
        </p:nvPicPr>
        <p:blipFill rotWithShape="1">
          <a:blip r:embed="rId2">
            <a:alphaModFix/>
          </a:blip>
          <a:srcRect b="0" l="0" r="41741" t="56174"/>
          <a:stretch/>
        </p:blipFill>
        <p:spPr>
          <a:xfrm>
            <a:off x="6915975" y="-77175"/>
            <a:ext cx="2334126" cy="129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7450" y="4825113"/>
            <a:ext cx="548641" cy="2058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>
  <p:cSld name="Title and Conten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400"/>
              <a:buNone/>
              <a:defRPr/>
            </a:lvl1pPr>
            <a:lvl2pPr lvl="1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400"/>
              <a:buNone/>
              <a:defRPr/>
            </a:lvl2pPr>
            <a:lvl3pPr lvl="2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400"/>
              <a:buNone/>
              <a:defRPr/>
            </a:lvl3pPr>
            <a:lvl4pPr lvl="3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400"/>
              <a:buNone/>
              <a:defRPr/>
            </a:lvl4pPr>
            <a:lvl5pPr lvl="4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400"/>
              <a:buNone/>
              <a:defRPr/>
            </a:lvl5pPr>
            <a:lvl6pPr lvl="5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400"/>
              <a:buNone/>
              <a:defRPr/>
            </a:lvl6pPr>
            <a:lvl7pPr lvl="6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400"/>
              <a:buNone/>
              <a:defRPr/>
            </a:lvl7pPr>
            <a:lvl8pPr lvl="7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400"/>
              <a:buNone/>
              <a:defRPr/>
            </a:lvl8pPr>
            <a:lvl9pPr lvl="8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4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EFEFE"/>
              </a:buClr>
              <a:buSzPts val="1400"/>
              <a:buChar char="●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EFEFE"/>
              </a:buClr>
              <a:buSzPts val="1400"/>
              <a:buChar char="○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EFEFE"/>
              </a:buClr>
              <a:buSzPts val="1400"/>
              <a:buChar char="■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EFEFE"/>
              </a:buClr>
              <a:buSzPts val="1400"/>
              <a:buChar char="●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EFEFE"/>
              </a:buClr>
              <a:buSzPts val="1400"/>
              <a:buChar char="○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EFEFE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EFEFE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EFEFE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EFEFE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8310108" y="4803219"/>
            <a:ext cx="205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900"/>
              <a:buFont typeface="Helvetica Neue"/>
              <a:buNone/>
              <a:defRPr sz="900">
                <a:solidFill>
                  <a:srgbClr val="FEFEF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900"/>
              <a:buFont typeface="Helvetica Neue"/>
              <a:buNone/>
              <a:defRPr sz="900">
                <a:solidFill>
                  <a:srgbClr val="FEFEF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900"/>
              <a:buFont typeface="Helvetica Neue"/>
              <a:buNone/>
              <a:defRPr sz="900">
                <a:solidFill>
                  <a:srgbClr val="FEFEF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900"/>
              <a:buFont typeface="Helvetica Neue"/>
              <a:buNone/>
              <a:defRPr sz="900">
                <a:solidFill>
                  <a:srgbClr val="FEFEF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900"/>
              <a:buFont typeface="Helvetica Neue"/>
              <a:buNone/>
              <a:defRPr sz="900">
                <a:solidFill>
                  <a:srgbClr val="FEFEF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900"/>
              <a:buFont typeface="Helvetica Neue"/>
              <a:buNone/>
              <a:defRPr sz="900">
                <a:solidFill>
                  <a:srgbClr val="FEFEF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900"/>
              <a:buFont typeface="Helvetica Neue"/>
              <a:buNone/>
              <a:defRPr sz="900">
                <a:solidFill>
                  <a:srgbClr val="FEFEF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900"/>
              <a:buFont typeface="Helvetica Neue"/>
              <a:buNone/>
              <a:defRPr sz="900">
                <a:solidFill>
                  <a:srgbClr val="FEFEF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900"/>
              <a:buFont typeface="Helvetica Neue"/>
              <a:buNone/>
              <a:defRPr sz="900">
                <a:solidFill>
                  <a:srgbClr val="FEFEF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7.png"/><Relationship Id="rId4" Type="http://schemas.openxmlformats.org/officeDocument/2006/relationships/image" Target="../media/image24.png"/><Relationship Id="rId5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Relationship Id="rId4" Type="http://schemas.openxmlformats.org/officeDocument/2006/relationships/image" Target="../media/image2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png"/><Relationship Id="rId4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image" Target="../media/image2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python.langchain.com/docs/integrations/providers/neo4j" TargetMode="External"/><Relationship Id="rId4" Type="http://schemas.openxmlformats.org/officeDocument/2006/relationships/hyperlink" Target="https://blog.langchain.dev/neo4j-x-langchain-new-vector-index/1" TargetMode="External"/><Relationship Id="rId5" Type="http://schemas.openxmlformats.org/officeDocument/2006/relationships/hyperlink" Target="https://blog.langchain.dev/using-a-knowledge-graph-to-implement-a-devops-rag-application/" TargetMode="External"/><Relationship Id="rId6" Type="http://schemas.openxmlformats.org/officeDocument/2006/relationships/hyperlink" Target="https://github.com/docker/genai-stack" TargetMode="External"/><Relationship Id="rId7" Type="http://schemas.openxmlformats.org/officeDocument/2006/relationships/hyperlink" Target="https://github.com/tomasonjo/streamlit-neo4j-hackath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28" y="4736507"/>
            <a:ext cx="34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" name="Google Shape;95;p19"/>
          <p:cNvSpPr txBox="1"/>
          <p:nvPr>
            <p:ph type="title"/>
          </p:nvPr>
        </p:nvSpPr>
        <p:spPr>
          <a:xfrm>
            <a:off x="666325" y="1647050"/>
            <a:ext cx="7425300" cy="1536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Deep dive into LangChain integration with Neo4j</a:t>
            </a:r>
            <a:endParaRPr/>
          </a:p>
        </p:txBody>
      </p:sp>
      <p:sp>
        <p:nvSpPr>
          <p:cNvPr id="96" name="Google Shape;96;p19"/>
          <p:cNvSpPr txBox="1"/>
          <p:nvPr/>
        </p:nvSpPr>
        <p:spPr>
          <a:xfrm>
            <a:off x="682400" y="3032825"/>
            <a:ext cx="32526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By Tomaž Bratanič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4189" y="662456"/>
            <a:ext cx="4085343" cy="410193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rmAutofit lnSpcReduction="10000"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GenAI orchestration Framework</a:t>
            </a:r>
            <a:endParaRPr/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Many out-of-the-box components</a:t>
            </a:r>
            <a:br>
              <a:rPr lang="en"/>
            </a:br>
            <a:r>
              <a:rPr lang="en"/>
              <a:t>and integrations</a:t>
            </a:r>
            <a:endParaRPr/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Prebuilt chains and agents</a:t>
            </a:r>
            <a:endParaRPr/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Available in Python and TypeScript </a:t>
            </a:r>
            <a:endParaRPr/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(there are others that we don’t support ATM)</a:t>
            </a:r>
            <a:endParaRPr/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LangChain why &amp; how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idx="12" type="sldNum"/>
          </p:nvPr>
        </p:nvSpPr>
        <p:spPr>
          <a:xfrm>
            <a:off x="28" y="4736507"/>
            <a:ext cx="34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9" name="Google Shape;109;p21"/>
          <p:cNvSpPr txBox="1"/>
          <p:nvPr>
            <p:ph idx="2" type="body"/>
          </p:nvPr>
        </p:nvSpPr>
        <p:spPr>
          <a:xfrm>
            <a:off x="243500" y="415900"/>
            <a:ext cx="2679300" cy="4179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Providing relevant context in prompt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Avoid relying on facts provided by LLMs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Increased transparency due to provided sources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answer is as good as the provided context</a:t>
            </a:r>
            <a:endParaRPr/>
          </a:p>
        </p:txBody>
      </p:sp>
      <p:sp>
        <p:nvSpPr>
          <p:cNvPr id="110" name="Google Shape;110;p21"/>
          <p:cNvSpPr txBox="1"/>
          <p:nvPr/>
        </p:nvSpPr>
        <p:spPr>
          <a:xfrm>
            <a:off x="3072000" y="89800"/>
            <a:ext cx="5827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Retrieval-augmented generation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    (in-context passing)</a:t>
            </a:r>
            <a:endParaRPr b="1" sz="2400">
              <a:solidFill>
                <a:schemeClr val="dk1"/>
              </a:solidFill>
            </a:endParaRPr>
          </a:p>
        </p:txBody>
      </p:sp>
      <p:pic>
        <p:nvPicPr>
          <p:cNvPr id="111" name="Google Shape;11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9500" y="1312575"/>
            <a:ext cx="5872850" cy="308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1900" y="1464975"/>
            <a:ext cx="5872850" cy="308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idx="12" type="sldNum"/>
          </p:nvPr>
        </p:nvSpPr>
        <p:spPr>
          <a:xfrm>
            <a:off x="28" y="4736024"/>
            <a:ext cx="34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2"/>
          <p:cNvSpPr txBox="1"/>
          <p:nvPr>
            <p:ph type="title"/>
          </p:nvPr>
        </p:nvSpPr>
        <p:spPr>
          <a:xfrm>
            <a:off x="679125" y="294050"/>
            <a:ext cx="8082300" cy="1497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Neo4j integrations with LangChain</a:t>
            </a:r>
            <a:endParaRPr/>
          </a:p>
        </p:txBody>
      </p:sp>
      <p:cxnSp>
        <p:nvCxnSpPr>
          <p:cNvPr id="119" name="Google Shape;119;p22"/>
          <p:cNvCxnSpPr/>
          <p:nvPr/>
        </p:nvCxnSpPr>
        <p:spPr>
          <a:xfrm flipH="1">
            <a:off x="2282300" y="1288950"/>
            <a:ext cx="894600" cy="99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" name="Google Shape;120;p22"/>
          <p:cNvCxnSpPr/>
          <p:nvPr/>
        </p:nvCxnSpPr>
        <p:spPr>
          <a:xfrm>
            <a:off x="4238400" y="1144900"/>
            <a:ext cx="318300" cy="119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1" name="Google Shape;121;p22"/>
          <p:cNvSpPr txBox="1"/>
          <p:nvPr/>
        </p:nvSpPr>
        <p:spPr>
          <a:xfrm>
            <a:off x="46275" y="2282250"/>
            <a:ext cx="4685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18BFF"/>
                </a:solidFill>
              </a:rPr>
              <a:t>Vector index</a:t>
            </a:r>
            <a:endParaRPr b="1" sz="2400">
              <a:solidFill>
                <a:srgbClr val="018BFF"/>
              </a:solidFill>
            </a:endParaRPr>
          </a:p>
        </p:txBody>
      </p:sp>
      <p:sp>
        <p:nvSpPr>
          <p:cNvPr id="122" name="Google Shape;122;p22"/>
          <p:cNvSpPr txBox="1"/>
          <p:nvPr/>
        </p:nvSpPr>
        <p:spPr>
          <a:xfrm>
            <a:off x="3564300" y="2282250"/>
            <a:ext cx="3593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18BFF"/>
                </a:solidFill>
              </a:rPr>
              <a:t>Graph Cypher Chain</a:t>
            </a:r>
            <a:endParaRPr b="1" sz="2400">
              <a:solidFill>
                <a:srgbClr val="018BFF"/>
              </a:solidFill>
            </a:endParaRPr>
          </a:p>
        </p:txBody>
      </p:sp>
      <p:pic>
        <p:nvPicPr>
          <p:cNvPr id="123" name="Google Shape;12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2075" y="3124450"/>
            <a:ext cx="3463199" cy="176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75" y="2711965"/>
            <a:ext cx="3744550" cy="227913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2"/>
          <p:cNvSpPr txBox="1"/>
          <p:nvPr/>
        </p:nvSpPr>
        <p:spPr>
          <a:xfrm>
            <a:off x="6915625" y="1539900"/>
            <a:ext cx="3000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18BFF"/>
                </a:solidFill>
              </a:rPr>
              <a:t>Graph construction</a:t>
            </a:r>
            <a:endParaRPr b="1" sz="2400">
              <a:solidFill>
                <a:srgbClr val="018BFF"/>
              </a:solidFill>
            </a:endParaRPr>
          </a:p>
        </p:txBody>
      </p:sp>
      <p:cxnSp>
        <p:nvCxnSpPr>
          <p:cNvPr id="126" name="Google Shape;126;p22"/>
          <p:cNvCxnSpPr/>
          <p:nvPr/>
        </p:nvCxnSpPr>
        <p:spPr>
          <a:xfrm>
            <a:off x="6884525" y="1016000"/>
            <a:ext cx="507900" cy="47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27" name="Google Shape;127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7164" y="2517095"/>
            <a:ext cx="1740762" cy="12817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2"/>
          <p:cNvSpPr txBox="1"/>
          <p:nvPr/>
        </p:nvSpPr>
        <p:spPr>
          <a:xfrm>
            <a:off x="994225" y="958100"/>
            <a:ext cx="5921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https://python.langchain.com/docs/integrations/providers/neo4j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>
            <p:ph idx="12" type="sldNum"/>
          </p:nvPr>
        </p:nvSpPr>
        <p:spPr>
          <a:xfrm>
            <a:off x="28" y="4736024"/>
            <a:ext cx="34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4" name="Google Shape;134;p23"/>
          <p:cNvSpPr txBox="1"/>
          <p:nvPr>
            <p:ph type="title"/>
          </p:nvPr>
        </p:nvSpPr>
        <p:spPr>
          <a:xfrm>
            <a:off x="664700" y="330050"/>
            <a:ext cx="4961100" cy="6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Cypher Chain</a:t>
            </a:r>
            <a:endParaRPr/>
          </a:p>
        </p:txBody>
      </p:sp>
      <p:pic>
        <p:nvPicPr>
          <p:cNvPr id="135" name="Google Shape;13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878" y="1095100"/>
            <a:ext cx="5814507" cy="382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3"/>
          <p:cNvSpPr txBox="1"/>
          <p:nvPr/>
        </p:nvSpPr>
        <p:spPr>
          <a:xfrm>
            <a:off x="1073375" y="1044550"/>
            <a:ext cx="64257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https://python.langchain.com/docs/use_cases/more/graph/graph_cypher_qa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idx="12" type="sldNum"/>
          </p:nvPr>
        </p:nvSpPr>
        <p:spPr>
          <a:xfrm>
            <a:off x="28" y="4736024"/>
            <a:ext cx="34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2" name="Google Shape;142;p24"/>
          <p:cNvSpPr txBox="1"/>
          <p:nvPr>
            <p:ph type="title"/>
          </p:nvPr>
        </p:nvSpPr>
        <p:spPr>
          <a:xfrm>
            <a:off x="664700" y="330050"/>
            <a:ext cx="4961100" cy="6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Cypher Chain</a:t>
            </a:r>
            <a:endParaRPr/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4828" y="1081800"/>
            <a:ext cx="5368257" cy="382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4"/>
          <p:cNvSpPr txBox="1"/>
          <p:nvPr/>
        </p:nvSpPr>
        <p:spPr>
          <a:xfrm>
            <a:off x="183925" y="1692900"/>
            <a:ext cx="14409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Define Neo4j connection</a:t>
            </a:r>
            <a:endParaRPr/>
          </a:p>
        </p:txBody>
      </p:sp>
      <p:sp>
        <p:nvSpPr>
          <p:cNvPr id="145" name="Google Shape;145;p24"/>
          <p:cNvSpPr txBox="1"/>
          <p:nvPr/>
        </p:nvSpPr>
        <p:spPr>
          <a:xfrm>
            <a:off x="65975" y="3473325"/>
            <a:ext cx="231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Define Cypher chain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146" name="Google Shape;146;p24"/>
          <p:cNvCxnSpPr/>
          <p:nvPr/>
        </p:nvCxnSpPr>
        <p:spPr>
          <a:xfrm>
            <a:off x="1426350" y="2038675"/>
            <a:ext cx="879000" cy="100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7" name="Google Shape;147;p24"/>
          <p:cNvCxnSpPr/>
          <p:nvPr/>
        </p:nvCxnSpPr>
        <p:spPr>
          <a:xfrm flipH="1" rot="10800000">
            <a:off x="1858575" y="3472350"/>
            <a:ext cx="504300" cy="2232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5"/>
          <p:cNvSpPr txBox="1"/>
          <p:nvPr>
            <p:ph idx="12" type="sldNum"/>
          </p:nvPr>
        </p:nvSpPr>
        <p:spPr>
          <a:xfrm>
            <a:off x="28" y="4736507"/>
            <a:ext cx="34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3" name="Google Shape;153;p25"/>
          <p:cNvSpPr txBox="1"/>
          <p:nvPr>
            <p:ph idx="2" type="body"/>
          </p:nvPr>
        </p:nvSpPr>
        <p:spPr>
          <a:xfrm>
            <a:off x="243500" y="415900"/>
            <a:ext cx="2679300" cy="4179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Relevant params: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Cypher_llm (use as powerful as possible)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cypher_prompt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validate_cypher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exclude_types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5"/>
          <p:cNvSpPr txBox="1"/>
          <p:nvPr/>
        </p:nvSpPr>
        <p:spPr>
          <a:xfrm>
            <a:off x="3072000" y="89800"/>
            <a:ext cx="6072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600">
                <a:solidFill>
                  <a:srgbClr val="018BFF"/>
                </a:solidFill>
              </a:rPr>
              <a:t>Graph Cypher Chain - generating cypher</a:t>
            </a:r>
            <a:endParaRPr b="1" sz="3600">
              <a:solidFill>
                <a:srgbClr val="018B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</a:endParaRPr>
          </a:p>
        </p:txBody>
      </p:sp>
      <p:pic>
        <p:nvPicPr>
          <p:cNvPr id="155" name="Google Shape;15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6149" y="1295925"/>
            <a:ext cx="3458625" cy="361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/>
          <p:nvPr>
            <p:ph idx="12" type="sldNum"/>
          </p:nvPr>
        </p:nvSpPr>
        <p:spPr>
          <a:xfrm>
            <a:off x="28" y="4736024"/>
            <a:ext cx="34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1" name="Google Shape;161;p26"/>
          <p:cNvSpPr txBox="1"/>
          <p:nvPr>
            <p:ph type="title"/>
          </p:nvPr>
        </p:nvSpPr>
        <p:spPr>
          <a:xfrm>
            <a:off x="664700" y="330050"/>
            <a:ext cx="7461300" cy="6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Excluding types from schema</a:t>
            </a:r>
            <a:endParaRPr/>
          </a:p>
        </p:txBody>
      </p:sp>
      <p:pic>
        <p:nvPicPr>
          <p:cNvPr id="162" name="Google Shape;16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9251" y="3090425"/>
            <a:ext cx="4881301" cy="182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475" y="1251097"/>
            <a:ext cx="4386300" cy="1704997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6"/>
          <p:cNvSpPr txBox="1"/>
          <p:nvPr/>
        </p:nvSpPr>
        <p:spPr>
          <a:xfrm>
            <a:off x="4977825" y="1512800"/>
            <a:ext cx="3601800" cy="1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LLM will only include schema objects in the generated Cypher statement that it is aware of.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 txBox="1"/>
          <p:nvPr>
            <p:ph idx="12" type="sldNum"/>
          </p:nvPr>
        </p:nvSpPr>
        <p:spPr>
          <a:xfrm>
            <a:off x="28" y="4736024"/>
            <a:ext cx="34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0" name="Google Shape;170;p27"/>
          <p:cNvSpPr txBox="1"/>
          <p:nvPr>
            <p:ph type="title"/>
          </p:nvPr>
        </p:nvSpPr>
        <p:spPr>
          <a:xfrm>
            <a:off x="664700" y="330050"/>
            <a:ext cx="7461300" cy="6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Customizing Cypher prompt</a:t>
            </a:r>
            <a:endParaRPr/>
          </a:p>
        </p:txBody>
      </p:sp>
      <p:sp>
        <p:nvSpPr>
          <p:cNvPr id="171" name="Google Shape;171;p27"/>
          <p:cNvSpPr txBox="1"/>
          <p:nvPr/>
        </p:nvSpPr>
        <p:spPr>
          <a:xfrm>
            <a:off x="25" y="2204350"/>
            <a:ext cx="28167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Specific instructions</a:t>
            </a:r>
            <a:endParaRPr/>
          </a:p>
        </p:txBody>
      </p:sp>
      <p:sp>
        <p:nvSpPr>
          <p:cNvPr id="172" name="Google Shape;172;p27"/>
          <p:cNvSpPr txBox="1"/>
          <p:nvPr/>
        </p:nvSpPr>
        <p:spPr>
          <a:xfrm>
            <a:off x="25" y="3767500"/>
            <a:ext cx="2540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Fewshot Cypher statement examples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3" name="Google Shape;173;p27"/>
          <p:cNvSpPr txBox="1"/>
          <p:nvPr/>
        </p:nvSpPr>
        <p:spPr>
          <a:xfrm>
            <a:off x="1880175" y="907675"/>
            <a:ext cx="29319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cypher_prompt parameter</a:t>
            </a:r>
            <a:endParaRPr/>
          </a:p>
        </p:txBody>
      </p:sp>
      <p:pic>
        <p:nvPicPr>
          <p:cNvPr id="174" name="Google Shape;17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8725" y="1303975"/>
            <a:ext cx="5719949" cy="3473303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7"/>
          <p:cNvSpPr txBox="1"/>
          <p:nvPr/>
        </p:nvSpPr>
        <p:spPr>
          <a:xfrm>
            <a:off x="25" y="29928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Mandatory parameters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176" name="Google Shape;176;p27"/>
          <p:cNvCxnSpPr/>
          <p:nvPr/>
        </p:nvCxnSpPr>
        <p:spPr>
          <a:xfrm flipH="1" rot="10800000">
            <a:off x="1865775" y="2377275"/>
            <a:ext cx="1066200" cy="28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7" name="Google Shape;177;p27"/>
          <p:cNvCxnSpPr/>
          <p:nvPr/>
        </p:nvCxnSpPr>
        <p:spPr>
          <a:xfrm>
            <a:off x="1995450" y="3220100"/>
            <a:ext cx="1001400" cy="792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8" name="Google Shape;178;p27"/>
          <p:cNvCxnSpPr/>
          <p:nvPr/>
        </p:nvCxnSpPr>
        <p:spPr>
          <a:xfrm>
            <a:off x="1872975" y="3256100"/>
            <a:ext cx="1714500" cy="11742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9" name="Google Shape;179;p27"/>
          <p:cNvCxnSpPr/>
          <p:nvPr/>
        </p:nvCxnSpPr>
        <p:spPr>
          <a:xfrm flipH="1" rot="10800000">
            <a:off x="2240375" y="3760450"/>
            <a:ext cx="749100" cy="165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8"/>
          <p:cNvSpPr txBox="1"/>
          <p:nvPr/>
        </p:nvSpPr>
        <p:spPr>
          <a:xfrm>
            <a:off x="678050" y="368825"/>
            <a:ext cx="8104500" cy="7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18BFF"/>
                </a:solidFill>
              </a:rPr>
              <a:t>Deterministically validate generated Cypher statements</a:t>
            </a:r>
            <a:endParaRPr b="1" sz="2400">
              <a:solidFill>
                <a:srgbClr val="018BFF"/>
              </a:solidFill>
            </a:endParaRPr>
          </a:p>
        </p:txBody>
      </p:sp>
      <p:sp>
        <p:nvSpPr>
          <p:cNvPr id="185" name="Google Shape;185;p28"/>
          <p:cNvSpPr txBox="1"/>
          <p:nvPr/>
        </p:nvSpPr>
        <p:spPr>
          <a:xfrm>
            <a:off x="788025" y="4711725"/>
            <a:ext cx="70491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8"/>
          <p:cNvSpPr txBox="1"/>
          <p:nvPr/>
        </p:nvSpPr>
        <p:spPr>
          <a:xfrm>
            <a:off x="754100" y="974325"/>
            <a:ext cx="81045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validate_cypher=True, you can deterministically validate and correct relationship directions</a:t>
            </a:r>
            <a:endParaRPr/>
          </a:p>
        </p:txBody>
      </p:sp>
      <p:pic>
        <p:nvPicPr>
          <p:cNvPr id="187" name="Google Shape;18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4750" y="1632600"/>
            <a:ext cx="4343850" cy="245247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8"/>
          <p:cNvSpPr txBox="1"/>
          <p:nvPr/>
        </p:nvSpPr>
        <p:spPr>
          <a:xfrm>
            <a:off x="878875" y="4487950"/>
            <a:ext cx="7167900" cy="3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Rules of validation are available: </a:t>
            </a:r>
            <a:r>
              <a:rPr lang="en">
                <a:solidFill>
                  <a:schemeClr val="dk1"/>
                </a:solidFill>
              </a:rPr>
              <a:t>https://github.com/tomasonjo/cypher-direction-competition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9" name="Google Shape;189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097" y="2107825"/>
            <a:ext cx="3870175" cy="141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9"/>
          <p:cNvSpPr txBox="1"/>
          <p:nvPr>
            <p:ph idx="12" type="sldNum"/>
          </p:nvPr>
        </p:nvSpPr>
        <p:spPr>
          <a:xfrm>
            <a:off x="28" y="4736507"/>
            <a:ext cx="34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5" name="Google Shape;195;p29"/>
          <p:cNvSpPr txBox="1"/>
          <p:nvPr>
            <p:ph idx="2" type="body"/>
          </p:nvPr>
        </p:nvSpPr>
        <p:spPr>
          <a:xfrm>
            <a:off x="243500" y="415900"/>
            <a:ext cx="2679300" cy="4179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Relevant params: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qa_llm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qa_prompt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Mandatory parameters: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9"/>
          <p:cNvSpPr txBox="1"/>
          <p:nvPr/>
        </p:nvSpPr>
        <p:spPr>
          <a:xfrm>
            <a:off x="3072000" y="89800"/>
            <a:ext cx="6072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018BFF"/>
                </a:solidFill>
              </a:rPr>
              <a:t>Graph Cypher Chain - generating answers</a:t>
            </a:r>
            <a:endParaRPr b="1" sz="3600">
              <a:solidFill>
                <a:srgbClr val="018B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</a:endParaRPr>
          </a:p>
        </p:txBody>
      </p:sp>
      <p:pic>
        <p:nvPicPr>
          <p:cNvPr id="197" name="Google Shape;19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2000" y="2019775"/>
            <a:ext cx="5916400" cy="193227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8" name="Google Shape;198;p29"/>
          <p:cNvCxnSpPr/>
          <p:nvPr/>
        </p:nvCxnSpPr>
        <p:spPr>
          <a:xfrm>
            <a:off x="2838300" y="3349750"/>
            <a:ext cx="338700" cy="36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9" name="Google Shape;199;p29"/>
          <p:cNvCxnSpPr/>
          <p:nvPr/>
        </p:nvCxnSpPr>
        <p:spPr>
          <a:xfrm>
            <a:off x="2787875" y="3364175"/>
            <a:ext cx="951000" cy="302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>
            <p:ph idx="12" type="sldNum"/>
          </p:nvPr>
        </p:nvSpPr>
        <p:spPr>
          <a:xfrm>
            <a:off x="28" y="4736024"/>
            <a:ext cx="34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5" name="Google Shape;205;p30"/>
          <p:cNvSpPr txBox="1"/>
          <p:nvPr>
            <p:ph type="title"/>
          </p:nvPr>
        </p:nvSpPr>
        <p:spPr>
          <a:xfrm>
            <a:off x="664700" y="330050"/>
            <a:ext cx="7461300" cy="6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Cypher chain summary</a:t>
            </a:r>
            <a:endParaRPr/>
          </a:p>
        </p:txBody>
      </p:sp>
      <p:sp>
        <p:nvSpPr>
          <p:cNvPr id="206" name="Google Shape;206;p30"/>
          <p:cNvSpPr txBox="1"/>
          <p:nvPr/>
        </p:nvSpPr>
        <p:spPr>
          <a:xfrm>
            <a:off x="197475" y="864475"/>
            <a:ext cx="91440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implementation: https://github.com/langchain-ai/langchain/blob/master/libs/langchain/langchain/chains/graph_qa/cypher.py</a:t>
            </a:r>
            <a:endParaRPr/>
          </a:p>
        </p:txBody>
      </p:sp>
      <p:pic>
        <p:nvPicPr>
          <p:cNvPr id="207" name="Google Shape;20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1178" y="1420375"/>
            <a:ext cx="5876925" cy="311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1"/>
          <p:cNvSpPr txBox="1"/>
          <p:nvPr>
            <p:ph idx="12" type="sldNum"/>
          </p:nvPr>
        </p:nvSpPr>
        <p:spPr>
          <a:xfrm>
            <a:off x="28" y="4736024"/>
            <a:ext cx="34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3" name="Google Shape;213;p31"/>
          <p:cNvSpPr txBox="1"/>
          <p:nvPr>
            <p:ph type="title"/>
          </p:nvPr>
        </p:nvSpPr>
        <p:spPr>
          <a:xfrm>
            <a:off x="664700" y="330050"/>
            <a:ext cx="7461300" cy="6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Cypher chain limitations</a:t>
            </a:r>
            <a:endParaRPr/>
          </a:p>
        </p:txBody>
      </p:sp>
      <p:sp>
        <p:nvSpPr>
          <p:cNvPr id="214" name="Google Shape;214;p31"/>
          <p:cNvSpPr txBox="1"/>
          <p:nvPr/>
        </p:nvSpPr>
        <p:spPr>
          <a:xfrm>
            <a:off x="1880175" y="907675"/>
            <a:ext cx="29319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5" name="Google Shape;215;p31"/>
          <p:cNvCxnSpPr/>
          <p:nvPr/>
        </p:nvCxnSpPr>
        <p:spPr>
          <a:xfrm flipH="1">
            <a:off x="1808100" y="1094975"/>
            <a:ext cx="1051800" cy="100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6" name="Google Shape;216;p31"/>
          <p:cNvCxnSpPr>
            <a:stCxn id="214" idx="3"/>
          </p:cNvCxnSpPr>
          <p:nvPr/>
        </p:nvCxnSpPr>
        <p:spPr>
          <a:xfrm>
            <a:off x="4812075" y="1105825"/>
            <a:ext cx="1059000" cy="101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7" name="Google Shape;217;p31"/>
          <p:cNvSpPr txBox="1"/>
          <p:nvPr/>
        </p:nvSpPr>
        <p:spPr>
          <a:xfrm>
            <a:off x="295350" y="2139525"/>
            <a:ext cx="2658300" cy="5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Consistently generating valid Cypher statements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Custom Cypher prompt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Dynamic fewshot examples (using vector index)</a:t>
            </a:r>
            <a:endParaRPr/>
          </a:p>
        </p:txBody>
      </p:sp>
      <p:sp>
        <p:nvSpPr>
          <p:cNvPr id="218" name="Google Shape;218;p31"/>
          <p:cNvSpPr txBox="1"/>
          <p:nvPr/>
        </p:nvSpPr>
        <p:spPr>
          <a:xfrm>
            <a:off x="3296925" y="2251225"/>
            <a:ext cx="34746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Matching values from text to database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Adding a preprocessing step that maps values from text (people, organization, etc..) to database property values (Vector index, Full text index, etc..)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9" name="Google Shape;219;p31"/>
          <p:cNvSpPr txBox="1"/>
          <p:nvPr/>
        </p:nvSpPr>
        <p:spPr>
          <a:xfrm>
            <a:off x="1822550" y="4343875"/>
            <a:ext cx="5237100" cy="5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https://github.com/tomasonjo/streamlit-neo4j-hackathon</a:t>
            </a:r>
            <a:endParaRPr/>
          </a:p>
        </p:txBody>
      </p:sp>
      <p:cxnSp>
        <p:nvCxnSpPr>
          <p:cNvPr id="220" name="Google Shape;220;p31"/>
          <p:cNvCxnSpPr/>
          <p:nvPr/>
        </p:nvCxnSpPr>
        <p:spPr>
          <a:xfrm>
            <a:off x="5928700" y="1051750"/>
            <a:ext cx="1570500" cy="99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1" name="Google Shape;221;p31"/>
          <p:cNvSpPr txBox="1"/>
          <p:nvPr/>
        </p:nvSpPr>
        <p:spPr>
          <a:xfrm>
            <a:off x="6649100" y="2139525"/>
            <a:ext cx="2867100" cy="16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Sometimes the LLM says it doesn’t know the answer, even though valid information in context is provided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QA prompt engineering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Different types of LLMs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2"/>
          <p:cNvSpPr txBox="1"/>
          <p:nvPr>
            <p:ph idx="12" type="sldNum"/>
          </p:nvPr>
        </p:nvSpPr>
        <p:spPr>
          <a:xfrm>
            <a:off x="28" y="4736024"/>
            <a:ext cx="34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7" name="Google Shape;227;p32"/>
          <p:cNvSpPr txBox="1"/>
          <p:nvPr>
            <p:ph type="title"/>
          </p:nvPr>
        </p:nvSpPr>
        <p:spPr>
          <a:xfrm>
            <a:off x="671900" y="193175"/>
            <a:ext cx="4961100" cy="6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Vector index</a:t>
            </a:r>
            <a:endParaRPr/>
          </a:p>
        </p:txBody>
      </p:sp>
      <p:pic>
        <p:nvPicPr>
          <p:cNvPr id="228" name="Google Shape;22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1353" y="1074600"/>
            <a:ext cx="6284624" cy="38228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2"/>
          <p:cNvSpPr txBox="1"/>
          <p:nvPr/>
        </p:nvSpPr>
        <p:spPr>
          <a:xfrm>
            <a:off x="187300" y="1563225"/>
            <a:ext cx="2795100" cy="10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Handles both ingestion and reading from the vector index</a:t>
            </a:r>
            <a:endParaRPr/>
          </a:p>
        </p:txBody>
      </p:sp>
      <p:sp>
        <p:nvSpPr>
          <p:cNvPr id="230" name="Google Shape;230;p32"/>
          <p:cNvSpPr txBox="1"/>
          <p:nvPr/>
        </p:nvSpPr>
        <p:spPr>
          <a:xfrm>
            <a:off x="461050" y="770800"/>
            <a:ext cx="7391100" cy="5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https://python.langchain.com/docs/integrations/vectorstores/neo4jvector.html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3"/>
          <p:cNvSpPr txBox="1"/>
          <p:nvPr>
            <p:ph idx="12" type="sldNum"/>
          </p:nvPr>
        </p:nvSpPr>
        <p:spPr>
          <a:xfrm>
            <a:off x="28" y="4736024"/>
            <a:ext cx="34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6" name="Google Shape;236;p33"/>
          <p:cNvSpPr txBox="1"/>
          <p:nvPr>
            <p:ph type="title"/>
          </p:nvPr>
        </p:nvSpPr>
        <p:spPr>
          <a:xfrm>
            <a:off x="664700" y="330050"/>
            <a:ext cx="6517500" cy="6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Vector index search modes</a:t>
            </a:r>
            <a:endParaRPr/>
          </a:p>
        </p:txBody>
      </p:sp>
      <p:sp>
        <p:nvSpPr>
          <p:cNvPr id="237" name="Google Shape;237;p33"/>
          <p:cNvSpPr txBox="1"/>
          <p:nvPr/>
        </p:nvSpPr>
        <p:spPr>
          <a:xfrm>
            <a:off x="187300" y="1563225"/>
            <a:ext cx="2795100" cy="10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8" name="Google Shape;238;p33"/>
          <p:cNvCxnSpPr/>
          <p:nvPr/>
        </p:nvCxnSpPr>
        <p:spPr>
          <a:xfrm flipH="1">
            <a:off x="1627925" y="1087775"/>
            <a:ext cx="324300" cy="126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9" name="Google Shape;239;p33"/>
          <p:cNvCxnSpPr/>
          <p:nvPr/>
        </p:nvCxnSpPr>
        <p:spPr>
          <a:xfrm>
            <a:off x="2903125" y="986925"/>
            <a:ext cx="2355600" cy="111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40" name="Google Shape;24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100" y="3038512"/>
            <a:ext cx="4235725" cy="100737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3"/>
          <p:cNvSpPr txBox="1"/>
          <p:nvPr/>
        </p:nvSpPr>
        <p:spPr>
          <a:xfrm>
            <a:off x="374600" y="2413275"/>
            <a:ext cx="3349800" cy="5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Vector only search</a:t>
            </a:r>
            <a:endParaRPr/>
          </a:p>
        </p:txBody>
      </p:sp>
      <p:sp>
        <p:nvSpPr>
          <p:cNvPr id="242" name="Google Shape;242;p33"/>
          <p:cNvSpPr txBox="1"/>
          <p:nvPr/>
        </p:nvSpPr>
        <p:spPr>
          <a:xfrm>
            <a:off x="5546913" y="1988175"/>
            <a:ext cx="29319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Hybrid search (vector + keyword) with relative fusion</a:t>
            </a:r>
            <a:endParaRPr/>
          </a:p>
        </p:txBody>
      </p:sp>
      <p:pic>
        <p:nvPicPr>
          <p:cNvPr id="243" name="Google Shape;243;p33"/>
          <p:cNvPicPr preferRelativeResize="0"/>
          <p:nvPr/>
        </p:nvPicPr>
        <p:blipFill rotWithShape="1">
          <a:blip r:embed="rId4">
            <a:alphaModFix/>
          </a:blip>
          <a:srcRect b="0" l="2150" r="-2149" t="0"/>
          <a:stretch/>
        </p:blipFill>
        <p:spPr>
          <a:xfrm>
            <a:off x="4759913" y="2536900"/>
            <a:ext cx="4347375" cy="21321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4"/>
          <p:cNvSpPr txBox="1"/>
          <p:nvPr>
            <p:ph idx="12" type="sldNum"/>
          </p:nvPr>
        </p:nvSpPr>
        <p:spPr>
          <a:xfrm>
            <a:off x="28" y="4736024"/>
            <a:ext cx="34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9" name="Google Shape;249;p34"/>
          <p:cNvSpPr txBox="1"/>
          <p:nvPr>
            <p:ph type="title"/>
          </p:nvPr>
        </p:nvSpPr>
        <p:spPr>
          <a:xfrm>
            <a:off x="664700" y="330050"/>
            <a:ext cx="6517500" cy="6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Vector index graph model</a:t>
            </a:r>
            <a:endParaRPr/>
          </a:p>
        </p:txBody>
      </p:sp>
      <p:sp>
        <p:nvSpPr>
          <p:cNvPr id="250" name="Google Shape;250;p34"/>
          <p:cNvSpPr txBox="1"/>
          <p:nvPr/>
        </p:nvSpPr>
        <p:spPr>
          <a:xfrm>
            <a:off x="187300" y="1563225"/>
            <a:ext cx="2795100" cy="10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34"/>
          <p:cNvSpPr txBox="1"/>
          <p:nvPr/>
        </p:nvSpPr>
        <p:spPr>
          <a:xfrm>
            <a:off x="907675" y="1058950"/>
            <a:ext cx="5143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Each text chunk is stored in Neo4j as a single isolated node.</a:t>
            </a:r>
            <a:endParaRPr sz="15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2" name="Google Shape;25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3050" y="1640950"/>
            <a:ext cx="4095750" cy="2695575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4"/>
          <p:cNvSpPr txBox="1"/>
          <p:nvPr/>
        </p:nvSpPr>
        <p:spPr>
          <a:xfrm>
            <a:off x="5943125" y="1764925"/>
            <a:ext cx="2492400" cy="7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other properties on the node are considered “metadata” in a vector database slang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5"/>
          <p:cNvSpPr txBox="1"/>
          <p:nvPr>
            <p:ph idx="12" type="sldNum"/>
          </p:nvPr>
        </p:nvSpPr>
        <p:spPr>
          <a:xfrm>
            <a:off x="28" y="4736024"/>
            <a:ext cx="34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9" name="Google Shape;259;p35"/>
          <p:cNvSpPr txBox="1"/>
          <p:nvPr>
            <p:ph type="title"/>
          </p:nvPr>
        </p:nvSpPr>
        <p:spPr>
          <a:xfrm>
            <a:off x="664700" y="330050"/>
            <a:ext cx="6517500" cy="6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Vector index ingestion methods</a:t>
            </a:r>
            <a:endParaRPr/>
          </a:p>
        </p:txBody>
      </p:sp>
      <p:sp>
        <p:nvSpPr>
          <p:cNvPr id="260" name="Google Shape;260;p35"/>
          <p:cNvSpPr txBox="1"/>
          <p:nvPr/>
        </p:nvSpPr>
        <p:spPr>
          <a:xfrm>
            <a:off x="187300" y="1563225"/>
            <a:ext cx="2795100" cy="10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1" name="Google Shape;261;p35"/>
          <p:cNvCxnSpPr/>
          <p:nvPr/>
        </p:nvCxnSpPr>
        <p:spPr>
          <a:xfrm flipH="1">
            <a:off x="1627925" y="1087775"/>
            <a:ext cx="324300" cy="126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2" name="Google Shape;262;p35"/>
          <p:cNvCxnSpPr/>
          <p:nvPr/>
        </p:nvCxnSpPr>
        <p:spPr>
          <a:xfrm>
            <a:off x="2903125" y="986925"/>
            <a:ext cx="2355600" cy="111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3" name="Google Shape;263;p35"/>
          <p:cNvSpPr txBox="1"/>
          <p:nvPr/>
        </p:nvSpPr>
        <p:spPr>
          <a:xfrm>
            <a:off x="348625" y="2283600"/>
            <a:ext cx="3349800" cy="5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external data</a:t>
            </a:r>
            <a:endParaRPr/>
          </a:p>
        </p:txBody>
      </p:sp>
      <p:sp>
        <p:nvSpPr>
          <p:cNvPr id="264" name="Google Shape;264;p35"/>
          <p:cNvSpPr txBox="1"/>
          <p:nvPr/>
        </p:nvSpPr>
        <p:spPr>
          <a:xfrm>
            <a:off x="5546927" y="1988175"/>
            <a:ext cx="35046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data from existing graph in Neo4j</a:t>
            </a:r>
            <a:endParaRPr/>
          </a:p>
        </p:txBody>
      </p:sp>
      <p:pic>
        <p:nvPicPr>
          <p:cNvPr id="265" name="Google Shape;26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900" y="2686400"/>
            <a:ext cx="2978350" cy="204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2348375"/>
            <a:ext cx="4028672" cy="242542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5"/>
          <p:cNvSpPr txBox="1"/>
          <p:nvPr/>
        </p:nvSpPr>
        <p:spPr>
          <a:xfrm>
            <a:off x="4209875" y="4773800"/>
            <a:ext cx="52341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https://blog.langchain.dev/using-a-knowledge-graph-to-implement-a-devops-rag-application/</a:t>
            </a:r>
            <a:endParaRPr sz="900"/>
          </a:p>
        </p:txBody>
      </p:sp>
      <p:sp>
        <p:nvSpPr>
          <p:cNvPr id="268" name="Google Shape;268;p35"/>
          <p:cNvSpPr txBox="1"/>
          <p:nvPr/>
        </p:nvSpPr>
        <p:spPr>
          <a:xfrm>
            <a:off x="410625" y="4790525"/>
            <a:ext cx="37992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https://blog.langchain.dev/neo4j-x-langchain-new-vector-index/</a:t>
            </a:r>
            <a:endParaRPr sz="1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6"/>
          <p:cNvSpPr txBox="1"/>
          <p:nvPr>
            <p:ph idx="12" type="sldNum"/>
          </p:nvPr>
        </p:nvSpPr>
        <p:spPr>
          <a:xfrm>
            <a:off x="28" y="4736024"/>
            <a:ext cx="34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4" name="Google Shape;274;p36"/>
          <p:cNvSpPr txBox="1"/>
          <p:nvPr>
            <p:ph type="title"/>
          </p:nvPr>
        </p:nvSpPr>
        <p:spPr>
          <a:xfrm>
            <a:off x="664700" y="330050"/>
            <a:ext cx="6517500" cy="6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Vector index connecting to existing index</a:t>
            </a:r>
            <a:endParaRPr/>
          </a:p>
        </p:txBody>
      </p:sp>
      <p:pic>
        <p:nvPicPr>
          <p:cNvPr id="275" name="Google Shape;27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9153" y="1960675"/>
            <a:ext cx="6315075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7"/>
          <p:cNvSpPr txBox="1"/>
          <p:nvPr>
            <p:ph idx="12" type="sldNum"/>
          </p:nvPr>
        </p:nvSpPr>
        <p:spPr>
          <a:xfrm>
            <a:off x="28" y="4736024"/>
            <a:ext cx="34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1" name="Google Shape;281;p37"/>
          <p:cNvSpPr txBox="1"/>
          <p:nvPr>
            <p:ph type="title"/>
          </p:nvPr>
        </p:nvSpPr>
        <p:spPr>
          <a:xfrm>
            <a:off x="664700" y="330050"/>
            <a:ext cx="7871700" cy="6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Vector index - </a:t>
            </a:r>
            <a:r>
              <a:rPr lang="en"/>
              <a:t>custom responses</a:t>
            </a:r>
            <a:endParaRPr/>
          </a:p>
        </p:txBody>
      </p:sp>
      <p:pic>
        <p:nvPicPr>
          <p:cNvPr id="282" name="Google Shape;28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525" y="2961975"/>
            <a:ext cx="3684350" cy="123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0525" y="2022798"/>
            <a:ext cx="3713174" cy="883075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7"/>
          <p:cNvSpPr txBox="1"/>
          <p:nvPr/>
        </p:nvSpPr>
        <p:spPr>
          <a:xfrm>
            <a:off x="561900" y="1224650"/>
            <a:ext cx="2903100" cy="5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Default Cypher query</a:t>
            </a:r>
            <a:endParaRPr/>
          </a:p>
        </p:txBody>
      </p:sp>
      <p:sp>
        <p:nvSpPr>
          <p:cNvPr id="285" name="Google Shape;285;p37"/>
          <p:cNvSpPr txBox="1"/>
          <p:nvPr/>
        </p:nvSpPr>
        <p:spPr>
          <a:xfrm>
            <a:off x="5000550" y="12246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Custom retrieval query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86" name="Google Shape;286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51349" y="1575525"/>
            <a:ext cx="4827854" cy="321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37"/>
          <p:cNvSpPr txBox="1"/>
          <p:nvPr/>
        </p:nvSpPr>
        <p:spPr>
          <a:xfrm>
            <a:off x="284500" y="4364850"/>
            <a:ext cx="36237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Mandatory return parameters are text (string), score (float), and metadata (map)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8"/>
          <p:cNvSpPr txBox="1"/>
          <p:nvPr>
            <p:ph idx="12" type="sldNum"/>
          </p:nvPr>
        </p:nvSpPr>
        <p:spPr>
          <a:xfrm>
            <a:off x="28" y="4736024"/>
            <a:ext cx="34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3" name="Google Shape;293;p38"/>
          <p:cNvSpPr txBox="1"/>
          <p:nvPr>
            <p:ph type="title"/>
          </p:nvPr>
        </p:nvSpPr>
        <p:spPr>
          <a:xfrm>
            <a:off x="664700" y="330050"/>
            <a:ext cx="7871700" cy="6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Constructing knowledge graph</a:t>
            </a:r>
            <a:endParaRPr/>
          </a:p>
        </p:txBody>
      </p:sp>
      <p:sp>
        <p:nvSpPr>
          <p:cNvPr id="294" name="Google Shape;294;p38"/>
          <p:cNvSpPr txBox="1"/>
          <p:nvPr/>
        </p:nvSpPr>
        <p:spPr>
          <a:xfrm>
            <a:off x="814025" y="1030150"/>
            <a:ext cx="7283100" cy="3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 the moment only using the Diffbot API, but we plan on adding LLM-based: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https://python.langchain.com/docs/use_cases/more/graph/diffbot_graphtransformer</a:t>
            </a:r>
            <a:endParaRPr/>
          </a:p>
        </p:txBody>
      </p:sp>
      <p:pic>
        <p:nvPicPr>
          <p:cNvPr id="295" name="Google Shape;29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5403" y="1571675"/>
            <a:ext cx="6096106" cy="3462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9"/>
          <p:cNvSpPr txBox="1"/>
          <p:nvPr>
            <p:ph idx="12" type="sldNum"/>
          </p:nvPr>
        </p:nvSpPr>
        <p:spPr>
          <a:xfrm>
            <a:off x="28" y="4736024"/>
            <a:ext cx="34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1" name="Google Shape;301;p39"/>
          <p:cNvSpPr txBox="1"/>
          <p:nvPr>
            <p:ph type="title"/>
          </p:nvPr>
        </p:nvSpPr>
        <p:spPr>
          <a:xfrm>
            <a:off x="664700" y="330050"/>
            <a:ext cx="7871700" cy="6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</a:t>
            </a:r>
            <a:endParaRPr/>
          </a:p>
        </p:txBody>
      </p:sp>
      <p:sp>
        <p:nvSpPr>
          <p:cNvPr id="302" name="Google Shape;302;p39"/>
          <p:cNvSpPr txBox="1"/>
          <p:nvPr/>
        </p:nvSpPr>
        <p:spPr>
          <a:xfrm>
            <a:off x="814025" y="1030150"/>
            <a:ext cx="7283100" cy="30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https://python.langchain.com/docs/integrations/providers/neo4j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https://blog.langchain.dev/neo4j-x-langchain-new-vector-index/1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https://blog.langchain.dev/using-a-knowledge-graph-to-implement-a-devops-rag-application/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u="sng">
                <a:solidFill>
                  <a:schemeClr val="hlink"/>
                </a:solidFill>
                <a:hlinkClick r:id="rId6"/>
              </a:rPr>
              <a:t>https://github.com/docker/genai-stack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u="sng">
                <a:solidFill>
                  <a:schemeClr val="hlink"/>
                </a:solidFill>
                <a:hlinkClick r:id="rId7"/>
              </a:rPr>
              <a:t>https://github.com/tomasonjo/streamlit-neo4j-hackathon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https://neo4j.com/developer-blog/langchain-cypher-search-tips-tricks/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